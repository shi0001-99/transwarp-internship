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一本极具思想深度的投资经典——《金融炼金术》。这本书并非一本简单的交易指南，而是投资大师乔治·索罗斯的哲学思想与市场操作记录。它将带领我们探索市场的本质，理解“反身性”这一核心概念，并学习如何利用市场偏见进行宏观对冲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明确《金融炼金术》的定位。它不是一本教你如何选股的“秘籍”，而是一部投资哲学巨著。索罗斯在书中挑战了我们熟知的“有效市场假说”，他认为市场并非总是正确的，而是充满了参与者的偏见。这些偏见会反过来影响市场的基本面，形成一个动态的循环，他称之为“反身性”。理解这一点，是读懂这本书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索罗斯用一个生动的比喻来解释他的核心思想：市场不是镜子，而是锤子。镜子被动地反映现实，而锤子则会主动改变现实。在金融市场中，我们的认知会影响我们的行为，而我们的行为又会改变市场的现实。比如，大家都认为一只股票会涨，于是纷纷买入，结果真的把股价推高了。这个“认知影响现实”的双向反馈循环，就是“反身性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读书报告将分为四个部分。首先，我们将深入解析索罗斯的核心理论，包括“易错性”和“反身性”，以及他著名的“繁荣-萧条循环”模型。接着，我们将通过复盘经典案例，看看这些理论在现实世界中是如何应用的。然后，我们会提炼出索罗斯的投资心法和一些可操作的实战技巧。最后，我将分享我的读书感悟，并结合当前市场环境，探讨这些思想对我们今天的投资有何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现在，让我们进入第一部分，深入探讨索罗斯思想的理论基石。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索罗斯思想的两大基石是“易错性”和“反身性”。首先是“易错性”，即承认我们对世界的认知永远是不完美的，总会有偏见和盲区。这意味着我们在投资时必须保持谦卑，做好犯错的准备。其次是“反身性”，即我们的认知会影响市场，而市场的变化又会反过来影响我们的认知。一个典型的例子就是银行挤兑，本来可能只是谣言，但大家都去取钱，银行就真的倒闭了。这就是认知创造了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反身性理论，索罗斯提出了一个非常实用的实战模型——繁荣-萧条循环。他认为，任何一个大的市场泡沫或崩盘，都不是一蹴而就的，而是经历了五个阶段：从最初的隐匿期，到自我强化的上涨期，再到中途的考验期，然后是情绪达到顶峰的高潮期，最后是反转崩盘。理解这个模型，能帮助我们判断市场所处的位置，从而做出更明智的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理论说起来容易，实际效果如何呢？接下来，我们进入第二部分，通过几个经典案例，看看索罗斯是如何运用他的理论在市场中获取巨额利润的。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案例是70年代美国REITs市场的盛衰。在繁荣期，大家都认为REITs是好东西，纷纷买入，推高了价格。高价格让REITs公司能融到更多钱去买房子，房价上涨又让REITs的资产价值更高，这是一个典型的正向循环。但当美联储加息，这个循环被打破，市场情绪逆转，抛售导致价格下跌，公司被迫折价卖资产，房价进一步下跌，形成了可怕的负向循环。索罗斯正是在这个循环的转折点上做出了正确的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案例，也是索罗斯最著名的一战——1992年英镑狙击战。当时市场普遍认为英国会捍卫英镑汇率，但索罗斯通过分析宏观经济，认为英国无法承受高利率的压力，最终会放弃固定汇率。他建立了巨额的英镑空仓，通过自己的操作影响市场，引发了市场的恐慌性抛售，最终迫使英国政府放弃抵抗。这是一个典型的“自我实现”的预言，索罗斯用自己的行动，将一个观点变成了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案例是1997年的亚洲金融危机。索罗斯发现东南亚各国的经济增长模式存在巨大隐患，它们的固定汇率制度不堪一击。他通过在外汇、股市、期市同时做空，立体式地攻击这些国家的金融体系。他的操作触发了市场的恐慌，导致资本大量外流，本币贬值，经济恶化，形成了一个难以逆转的恶性循环。这再次证明了反身性的巨大力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看完了精彩的案例，我们能从索罗斯身上学到什么呢？第三部分，我们将提炼他的投资哲学和一些可以实际操作的技巧。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索罗斯的投资心法可以总结为五点：第一，市场永远是错的；第二，要从市场的错误中获利；第三，用小额资金去测试你的想法；第四，一定要关注宏观大趋势；第五，勇于承认错误，及时止损。这些心法可以转化为具体的技巧，比如学会识别市场的主流偏见，判断当前处于循环的哪个阶段，构建多元化的投资组合，以及最重要的，做好严格的风险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理论和技巧最终要回归现实。在最后一部分，我将分享我的读书感悟，并结合我们当前所处的2026年，探讨索罗斯的思想能给我们带来哪些启示。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读完《金融炼金术》，我最大的收获是思维上的转变，从试图预测市场，转变为应对市场。我不再纠结于明天会涨还是会跌，而是去分析市场现在的主流偏见是什么，处于循环的哪个阶段。同时，这本书也让我对价值投资有了更深刻的理解，认识到价值本身是动态变化的。最重要的是，“易错性”原则时刻提醒我保持谦卑和敬畏，这在投资中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些思想对2026年的市场有什么启示呢？首先看AI浪潮，它目前很可能处于自我强化的中后期，我们需要警惕泡沫的顶峰。其次看新能源板块，在经历大幅回调后，市场的过度悲观可能已经创造了新的机会。最后，宏观政策，特别是利率政策和产业政策，是驱动所有这些循环的关键外部力量，需要我们密切关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《金融炼金术》给我们的最大启示，是一种全新的思维方式。它教会我们用动态的眼光看市场，关注认知和现实的互动，并把投资当作一个不断试错和修正的科学实验。最终，我们需要将这些思想内化为自己的东西，建立一套属于自己的投资体系。这，才是我们每个人真正的“金融炼金术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我的分享到此结束，感谢大家的观看。希望索罗斯的思想能给大家带来一些启发。谢谢！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0.svg"/><Relationship Id="rId5" Type="http://schemas.openxmlformats.org/officeDocument/2006/relationships/image" Target="../media/image16.svg"/><Relationship Id="rId10" Type="http://schemas.openxmlformats.org/officeDocument/2006/relationships/image" Target="../media/image24.svg"/><Relationship Id="rId4" Type="http://schemas.openxmlformats.org/officeDocument/2006/relationships/image" Target="../media/image21.svg"/><Relationship Id="rId9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0.sv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金融炼金术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乔治·索罗斯的投资哲学与市场洞察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143500"/>
            <a:ext cx="990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“市场参与者的认知与市场实际情况之间存在双向反馈，这种反身性不仅塑造了金融市场的波动，更揭示了经济运行的深层逻辑与不确定性。”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超越有效市场的哲学思辨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13" b="113"/>
          <a:stretch>
            <a:fillRect/>
          </a:stretch>
        </p:blipFill>
        <p:spPr>
          <a:xfrm>
            <a:off x="762000" y="1778000"/>
            <a:ext cx="3810000" cy="2413000"/>
          </a:xfrm>
          <a:prstGeom prst="rect">
            <a:avLst/>
          </a:prstGeom>
          <a:noFill/>
          <a:ln w="25400" cap="flat" cmpd="sng">
            <a:solidFill>
              <a:srgbClr val="D4AF37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381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“市场总是错的，这就是利润的来源。金融市场并非独立于参与者的客观存在，而是由认知与现实相互塑造的动态过程。”</a:t>
            </a:r>
            <a:endParaRPr lang="en-US" sz="1100"/>
          </a:p>
          <a:p>
            <a:pPr marL="0" indent="0" algn="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乔治·索罗斯</a:t>
            </a:r>
          </a:p>
        </p:txBody>
      </p:sp>
      <p:sp>
        <p:nvSpPr>
          <p:cNvPr id="6" name="AutoShape 6"/>
          <p:cNvSpPr/>
          <p:nvPr/>
        </p:nvSpPr>
        <p:spPr>
          <a:xfrm>
            <a:off x="4953000" y="1778000"/>
            <a:ext cx="647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000" y="1968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15000" y="19685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书籍定位：颠覆传统的投资哲学巨著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207000" y="2413000"/>
            <a:ext cx="596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它挑战了“理性人假设”与“有效市场假说”的传统基石，提出了一套基于不确定性与参与者认知偏差的全新市场认知框架，重塑了我们对金融市场运行逻辑的理解。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53000" y="3302000"/>
            <a:ext cx="647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7000" y="3492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15000" y="34925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核心观点：反身性的动态循环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3937000"/>
            <a:ext cx="596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市场是参与者的“主观认知”与市场“客观现实”持续互动、相互影响的过程。这种双向反馈机制会引发趋势的自我强化，解释了泡沫形成与破裂的深层逻辑。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953000" y="4826000"/>
            <a:ext cx="647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5016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715000" y="5016500"/>
            <a:ext cx="558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核心价值：重构投资认知的视角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07000" y="5461000"/>
            <a:ext cx="596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帮助投资者跳出纯粹的技术或基本面分析，从“认知偏差”与“现实演变”的互动中洞察市场拐点，理解宏观趋势的形成，从而在不确定的市场中寻找确定性的机会。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反身性：市场的本质是“锤子”而非“镜子”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观念将市场视为被动映照现实的“镜子”，而索罗斯提出了颠覆性的哲学洞见：市场更像是一把主动重塑现实的“锤子”。参与者的认知偏见并非对客观事实的简单反映，而是一股能够主动介入、扭曲并最终改变市场基本面的强大力量，形成了认知与现实之间不可分割的动态纠缠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D4AF37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036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3403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 认知功能 (Cognitive Function)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参与者基于不完全、甚至带有偏见的信息，形成对市场现状的理解与未来的预判。这是一个从“客观现实”向“主观认知”映射的过程，也是所有市场行为的起点。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317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D4AF37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4036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96100" y="3403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 参与/操控功能 (Manipulative Function)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3937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基于主观认知采取的买卖、投资等行动，会直接影响资产价格、供需关系乃至企业的经营基本面。这是一个从“主观认知”向“改变客观现实”转化的干预过程。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2705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12700" cap="flat" cmpd="sng">
            <a:solidFill>
              <a:srgbClr val="D4AF3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54356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反身性的闭环：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这两种功能相互作用，便形成了“认知影响行为，行为改变现实，现实修正认知”的双向反馈循环。这种非线性的动态过程，正是催生市场泡沫、崩盘以及剧烈波动的根本动力，也是理解金融市场非理性繁荣与萧条的关键钥匙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报告目录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20320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核心理论深度解析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深入探讨人类认知的“易错性”与市场的“反身性”，拆解索罗斯经典的繁荣-萧条循环模型，理解市场非理性波动背后的底层逻辑。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968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493000" y="20320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经典案例复盘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回溯历史经典：从房地产信托（REITs）的兴衰，到震撼全球的英镑狙击战，以真实的资本博弈案例，见证反身性理论如何在市场中演绎。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318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32000" y="43815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投资哲学与实战技巧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143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提炼索罗斯的投资心法，解析其“先投资后理解”的反身性交易逻辑，总结可应用于当下的市场观察视角与交易决策的实战策略。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4318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93000" y="43815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读书感悟与市场启示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143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结合2026年的宏观经济环境与市场特征，分享个人的阅读感悟，探讨反身性理论对理解当下市场趋势、规避投资误区的现实启示。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核心理论深度解析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456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AF37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4953000"/>
            <a:ext cx="1016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在思维与实在的反馈循环中，探索金融市场的本质逻辑与不确定性。透过反身性的棱镜，重新理解认知偏差如何塑造经济现实，以及这种动态交互如何成为市场波动的深层驱动力。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两大理论基石：易错性与反身性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3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 易错性 (Fallibility)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BEB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人类对世界的认知永远是不完整、有偏差且扭曲的。我们既无法穷尽所有信息，也难以彻底剥离主观视角的滤镜，这构成了所有认知活动的先天局限。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354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8100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784600"/>
            <a:ext cx="4508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拒绝完美主义：</a:t>
            </a:r>
            <a:r>
              <a:rPr lang="en-US" sz="1300" b="0" i="0" u="none" strike="noStrike">
                <a:solidFill>
                  <a:srgbClr val="C8C8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投资决策应建立在“可证伪的假设”之上，而非对“绝对真理”的盲目信仰，接纳不确定性是第一步。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5720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4546600"/>
            <a:ext cx="4508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预埋容错机制：</a:t>
            </a:r>
            <a:r>
              <a:rPr lang="en-US" sz="1300" b="0" i="0" u="none" strike="noStrike">
                <a:solidFill>
                  <a:srgbClr val="C8C8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通过严格的止损规则、仓位管理与分散配置，为认知偏差预留安全边际，防止一次错误导致全盘皆输。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3340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33500" y="5308600"/>
            <a:ext cx="4508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动态迭代修正：</a:t>
            </a:r>
            <a:r>
              <a:rPr lang="en-US" sz="1300" b="0" i="0" u="none" strike="noStrike">
                <a:solidFill>
                  <a:srgbClr val="C8C8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将投资视为持续试错的过程，用市场反馈不断检验并修正初始假设，保持思想的灵活性。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524000"/>
            <a:ext cx="5207000" cy="463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13500" y="177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 反身性 (Reflexivity)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2413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BEB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市场并非由独立于参与者的“客观现实”单向决定，而是认知与现实的双向反馈循环：投资者的偏见塑造市场行为，而市场结果又反过来强化或改变最初的偏见。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6413508" y="354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13500" y="3746500"/>
            <a:ext cx="1143000" cy="457200"/>
          </a:xfrm>
          <a:prstGeom prst="roundRect">
            <a:avLst>
              <a:gd name="adj" fmla="val 0"/>
            </a:avLst>
          </a:prstGeom>
          <a:solidFill>
            <a:srgbClr val="D4AF37">
              <a:alpha val="15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13500" y="3746500"/>
            <a:ext cx="114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现实/基本面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0" y="3746500"/>
            <a:ext cx="1143000" cy="457200"/>
          </a:xfrm>
          <a:prstGeom prst="roundRect">
            <a:avLst>
              <a:gd name="adj" fmla="val 0"/>
            </a:avLst>
          </a:prstGeom>
          <a:solidFill>
            <a:srgbClr val="D4AF37">
              <a:alpha val="15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0" y="3746500"/>
            <a:ext cx="114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认知/偏见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26500" y="3746500"/>
            <a:ext cx="1143000" cy="457200"/>
          </a:xfrm>
          <a:prstGeom prst="roundRect">
            <a:avLst>
              <a:gd name="adj" fmla="val 0"/>
            </a:avLst>
          </a:prstGeom>
          <a:solidFill>
            <a:srgbClr val="D4AF37">
              <a:alpha val="15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26500" y="3746500"/>
            <a:ext cx="114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决策/行动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033000" y="3746500"/>
            <a:ext cx="1143000" cy="457200"/>
          </a:xfrm>
          <a:prstGeom prst="roundRect">
            <a:avLst>
              <a:gd name="adj" fmla="val 0"/>
            </a:avLst>
          </a:prstGeom>
          <a:solidFill>
            <a:srgbClr val="D4AF37">
              <a:alpha val="15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033000" y="3746500"/>
            <a:ext cx="114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重塑现实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508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D4AF37">
              <a:alpha val="12000"/>
            </a:srgbClr>
          </a:solidFill>
          <a:ln w="12700" cap="flat" cmpd="sng">
            <a:solidFill>
              <a:srgbClr val="D4AF3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40500" y="46101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经典印证：银行挤兑效应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CDC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即便银行本身稳健，一旦“倒闭”谣言引发集体恐慌，便会触发疯狂挤兑。这种非理性的集体行动最终耗尽流动性，将原本的“虚假担忧”变为真实的危机——完美诠释了“认知创造现实”的闭环。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核心实战模型：繁荣-萧条循环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基于反身性理论，索罗斯揭示了市场泡沫与危机的演化规律。这五个阶段不仅是历史的总结，更是预判市场拐点的思维框架。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0574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D4AF3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603500"/>
            <a:ext cx="1803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238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隐匿期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746500"/>
            <a:ext cx="1803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基本面悄然发生积极变化，价格缓慢上涨但未引起广泛关注，趋势的种子在不为人知中萌芽。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46400" y="2413000"/>
            <a:ext cx="20574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D4AF3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073400" y="2603500"/>
            <a:ext cx="1803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73400" y="3238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自我强化期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073400" y="3746500"/>
            <a:ext cx="1803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价格上涨吸引跟风资金，乐观情绪形成正向反馈。市场预期改善基本面，推动价格进一步攀升，趋势自我加强。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130800" y="2413000"/>
            <a:ext cx="20574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D4AF3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257800" y="2603500"/>
            <a:ext cx="1803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57800" y="3238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考验期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57800" y="3746500"/>
            <a:ext cx="1803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市场出现剧烈回调，质疑声四起。若趋势经受住抛压考验，幸存的多头信心将更加坚定，为新一轮上涨蓄力。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315200" y="2413000"/>
            <a:ext cx="20574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D4AF3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442200" y="2603500"/>
            <a:ext cx="1803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42200" y="3238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高潮期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42200" y="3746500"/>
            <a:ext cx="1803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狂热情绪达到顶点，价格彻底脱离基本面支撑。“博傻”逻辑主导市场，任何利空都被无视，反转一触即发。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499600" y="2413000"/>
            <a:ext cx="20574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D4AF3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626600" y="2603500"/>
            <a:ext cx="1803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26600" y="3238500"/>
            <a:ext cx="180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反转与崩盘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626600" y="3746500"/>
            <a:ext cx="18034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突发事件或流动性枯竭引发抛售，恐慌情绪形成负向反馈。价格泡沫瞬间破裂，市场陷入急速的崩盘与衰退。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603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4AF3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洞察反身性循环，是把握市场非理性波动的关键钥匙 ——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经典案例复盘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理论的价值在于指导实践。我们将透过历史的棱镜，回顾索罗斯在全球金融市场留下的深刻足迹。从英镑狙击战的经典博弈，到对宏观经济趋势的精准预判，剖析反身性理论如何在真实的市场波动中显影，见证认知与现实相互塑造的力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案例一：房地产信托投资基金 (REITs) 的盛衰 (1970s)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D4AF37">
              <a:alpha val="10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 繁荣：自我强化的正向循环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赋予其“高收益、低风险”的共识，引发资金疯狂涌入，直接推高了REITs的市场价格。净值的攀升让其能以更高估值增发募资，再将资金投入地产市场进一步推高资产价格，形成“估值提升→资产增值→再融资扩张”的完美正向闭环，泡沫在自我强化中迅速膨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0005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D4AF37">
              <a:alpha val="10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41910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 萧条：反向强化的死亡螺旋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699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美联储加息成为致命转折点，融资成本飙升瞬间击碎了高收益的神话。投资者恐慌性抛售引发价格暴跌，净值缩水迫使机构不得不折价变卖资产以应对赎回，而资产的抛售又进一步拉低了地产价格，形成“抛售下跌→资产贬值→被迫抛售”的负向循环，最终导致市场彻底崩塌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340" r="340"/>
          <a:stretch>
            <a:fillRect/>
          </a:stretch>
        </p:blipFill>
        <p:spPr>
          <a:xfrm>
            <a:off x="6350000" y="1651000"/>
            <a:ext cx="5080000" cy="3111500"/>
          </a:xfrm>
          <a:prstGeom prst="rect">
            <a:avLst/>
          </a:prstGeom>
          <a:noFill/>
          <a:ln w="25400" cap="flat" cmpd="sng">
            <a:solidFill>
              <a:srgbClr val="D4AF37">
                <a:alpha val="6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350000" y="50165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12700" cap="flat" cmpd="sng">
            <a:solidFill>
              <a:srgbClr val="D4AF3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51435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图表洞察：反身性的具象化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C-REITs全市场P/NAV（市值与净资产价值比）的剧烈波动曲线，直观呈现了市场情绪从非理性繁荣到恐慌性抛售的逆转。这不仅是价格的涨跌，更是索罗斯“反身性理论”中认知与现实相互强化、最终走向极端的典型实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案例二：英镑狙击战 (1992年)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8" b="8"/>
          <a:stretch>
            <a:fillRect/>
          </a:stretch>
        </p:blipFill>
        <p:spPr>
          <a:xfrm>
            <a:off x="762000" y="1651000"/>
            <a:ext cx="3556000" cy="2794000"/>
          </a:xfrm>
          <a:prstGeom prst="rect">
            <a:avLst/>
          </a:prstGeom>
          <a:noFill/>
          <a:ln w="12700" cap="flat" cmpd="sng">
            <a:solidFill>
              <a:srgbClr val="D4AF37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图表直观呈现了“黑色星期三”的市场震荡：英镑对马克汇率（左轴）在投机资本冲击下剧烈跳水，尽管英格兰银行紧急加息（右轴）试图维稳，却无法阻挡市场的恐慌性抛售，最终导致汇率防线彻底崩溃。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16510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D4AF37">
              <a:alpha val="8000"/>
            </a:srgbClr>
          </a:solidFill>
          <a:ln w="12700" cap="flat" cmpd="sng">
            <a:solidFill>
              <a:srgbClr val="D4AF3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8415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461000" y="18415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01. 经济基本面与政策的根本背离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953000" y="2286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英国经济深陷衰退与高失业泥潭，却因加入ERM需维持与德国马克的固定汇率，被迫跟随德国维持高利率。这种“以邻为壑”的货币政策，让英国经济雪上加霜，汇率稳定的承诺失去了现实基础。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2766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D4AF37">
              <a:alpha val="8000"/>
            </a:srgbClr>
          </a:solidFill>
          <a:ln w="12700" cap="flat" cmpd="sng">
            <a:solidFill>
              <a:srgbClr val="D4AF3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3000" y="34671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61000" y="34671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02. 反身性：从预判到自我实现的闭环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53000" y="39116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索罗斯精准预判英国的政策极限，建立巨额英镑空仓。市场跟风抛售形成负向反馈：做空引发贬值预期，贬值预期又加剧做空，最终形成“自我实现”的预言，将汇率的脆弱性无限放大。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49022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D4AF37">
              <a:alpha val="8000"/>
            </a:srgbClr>
          </a:solidFill>
          <a:ln w="12700" cap="flat" cmpd="sng">
            <a:solidFill>
              <a:srgbClr val="D4AF3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3000" y="50927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461000" y="50927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03. 改写金融史的资本对决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953000" y="55372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英国政府耗费269亿美元外汇储备干预失败，被迫宣布英镑退出ERM，汇率单日暴跌超15%。索罗斯基金斩获超10亿美元利润，这场战役成为“宏观对冲”与“反身性理论”最经典的实战注脚。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案例三：亚洲金融危机 (1997年)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86" r="186"/>
          <a:stretch>
            <a:fillRect/>
          </a:stretch>
        </p:blipFill>
        <p:spPr>
          <a:xfrm>
            <a:off x="762000" y="1651000"/>
            <a:ext cx="4318000" cy="2540000"/>
          </a:xfrm>
          <a:prstGeom prst="rect">
            <a:avLst/>
          </a:prstGeom>
          <a:noFill/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4318000" cy="1714500"/>
          </a:xfrm>
          <a:prstGeom prst="roundRect">
            <a:avLst>
              <a:gd name="adj" fmla="val 0"/>
            </a:avLst>
          </a:prstGeom>
          <a:solidFill>
            <a:srgbClr val="D4AF37">
              <a:alpha val="8000"/>
            </a:srgbClr>
          </a:solidFill>
          <a:ln w="12700" cap="flat" cmpd="sng">
            <a:solidFill>
              <a:srgbClr val="D4AF3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762500"/>
            <a:ext cx="3937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危机演进缩影：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从泰铢放弃固定汇率开始，货币贬值迅速传导至印尼、马来西亚及韩国。股市暴跌、外资撤离、企业倒闭形成连锁反应，成为宏观经济层面“反身性”理论最震撼的现实注脚。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61000" y="1651000"/>
            <a:ext cx="596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D4AF3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1500" y="1841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096000" y="18161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 繁荣假象：脆弱的根基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51500" y="21844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东南亚各国长期依赖外资流入维持经济增长与固定汇率，却积累了巨额经常账户赤字和资产泡沫，金融体系如空中楼阁，一旦外资撤离便迅速崩塌。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461000" y="3175000"/>
            <a:ext cx="596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D4AF3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1500" y="336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096000" y="33401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 立体攻击：多市场联动做空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51500" y="37084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在外汇市场集中抛售本币施压汇率，同时在股市及股指期货市场建立大规模空仓。本币贬值引发的恐慌情绪，迅速演变为区域性的资本外逃与股市灾难。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4699000"/>
            <a:ext cx="5969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D4AF3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500" y="4889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096000" y="48641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 反身性：自我强化的恶性循环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51500" y="52324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市场信心崩溃 → 资本加速外流 → 本币贬值与经济恶化 → 信心进一步丧失。这种“现实与认知相互强化”的反身性过程，最终将局部危机放大为一场无法逆转的金融海啸。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投资哲学与实战技巧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254500"/>
            <a:ext cx="2540000" cy="25400"/>
          </a:xfrm>
          <a:prstGeom prst="roundRect">
            <a:avLst>
              <a:gd name="adj" fmla="val 0"/>
            </a:avLst>
          </a:prstGeom>
          <a:solidFill>
            <a:srgbClr val="D4AF3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889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从反身性理论出发，洞察认知与现实的相互塑造。</a:t>
            </a:r>
            <a:b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在波动的市场中，寻找确定性的锚点，掌握知行合一的投资心法与实战策略。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索罗斯的投资心法与实战技巧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投资心法：反身性的哲学内核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67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641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市场永远是错的：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价格包含偏见且反作用于基本面，市场非有效，而是充满“反射性”的动态过程。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036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3782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从错误中获利：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投资的关键并非预测未来，而是敏锐识别并利用当下的市场认知偏差与定价错误。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402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1148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先投资，后调查：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用小额资金“试水”验证假设，市场证明方向正确则果断加仓，反之则立即止损。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768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8514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宏观趋势为王：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宏观经济力量是驱动反身性循环的根本动力，要学会站在“潮水”的方向思考。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实战技巧：从理论到行动的路径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667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2641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识别主流偏见：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关注市场热议话题与分析师一致性预期，在极端的乐观或悲观情绪中保持逆向警惕。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4036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3782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判断循环阶段：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剖析价格、基本面与情绪的正反馈，精准定位市场处于自我强化期、反转前夜还是崩塌期。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1402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41148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多元宏观配置：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不局限于单一市场，在股票、债券、外汇等多资产类别建立低相关性头寸以分散风险。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8768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48514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铁律风控体系：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严格控制单一仓位上限，预设绝对止损线，为每一笔交易提前做好应对风险的预案。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读书感悟与2026年市场启示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952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市场并非独立于认知之外的客观存在，而是参与者思想与现实的互动共振。在2026年的变局中，唯有理解反身性的动态循环，才能在不确定性中锚定思考的原点，窥见趋势背后的逻辑脉络。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个人读书感悟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095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 思维的跃迁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845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摒弃徒劳的“预测思维”，转向务实的“应对思维”。不再纠结于预判市场的顶与底，而是专注于识别当下市场所处的阶段，洞察主流偏见的演化，并据此制定灵活的策略，以变制变。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09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81600" y="2095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 动态的价值观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29845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“内在价值”并非静态锚点，而是随市场预期动态演化。反身性循环中，价格与基本面相互强化，可能导致价格在长期内严重偏离传统估值模型，这是对传统价值投资理论的重要补充与修正。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095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095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 敬畏与空杯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2724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2984500"/>
            <a:ext cx="28702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“易错性”是市场的底层逻辑。承认人类认知的局限性，摒弃对确定性的幻想，保持开放的心态与对市场的敬畏，这不仅是投资的生存法则，更是在复杂系统中做出理性决策的前提。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D4AF37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“真正的智慧，在于认清我们认知的局限性，并在不确定性中寻找生存之道。”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对2026年股市的启示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b="60237"/>
          <a:stretch>
            <a:fillRect/>
          </a:stretch>
        </p:blipFill>
        <p:spPr>
          <a:xfrm>
            <a:off x="889000" y="1714500"/>
            <a:ext cx="3302000" cy="1968500"/>
          </a:xfrm>
          <a:prstGeom prst="roundRect">
            <a:avLst>
              <a:gd name="adj" fmla="val 645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3873500"/>
            <a:ext cx="330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01 AI浪潮的自我强化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43815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当前或处于“自我强化期”中后期，高估值带来的廉价资本加速技术落地，形成正向反馈。但需警惕估值与盈利脱钩的“高潮反转”风险，泡沫破裂往往发生在乐观情绪的最顶点。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524000"/>
            <a:ext cx="3556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5310" b="5310"/>
          <a:stretch>
            <a:fillRect/>
          </a:stretch>
        </p:blipFill>
        <p:spPr>
          <a:xfrm>
            <a:off x="4445000" y="1714500"/>
            <a:ext cx="3302000" cy="1968500"/>
          </a:xfrm>
          <a:prstGeom prst="roundRect">
            <a:avLst>
              <a:gd name="adj" fmla="val 645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445000" y="3873500"/>
            <a:ext cx="330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02 新能源的周期修复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43815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深度调整后行业估值回归合理区间，市场过度悲观或已透支风险。需密切关注产能出清进度与产品价格企稳信号，政策扶持与技术迭代将是开启新一轮上行周期的关键催化剂。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1524000"/>
            <a:ext cx="3556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5288" b="5288"/>
          <a:stretch>
            <a:fillRect/>
          </a:stretch>
        </p:blipFill>
        <p:spPr>
          <a:xfrm>
            <a:off x="8001000" y="1714500"/>
            <a:ext cx="3302000" cy="1968500"/>
          </a:xfrm>
          <a:prstGeom prst="roundRect">
            <a:avLst>
              <a:gd name="adj" fmla="val 645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001000" y="3873500"/>
            <a:ext cx="330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03 宏观政策的反身驱动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43815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BEB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全球降息周期的开启将重塑资产定价逻辑，流动性宽松是市场反转的基础。而产业政策的精准发力，将为特定赛道注入强劲的外部动力，触发估值与业绩的戴维斯双击。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总结：建立你自己的“金融炼金术”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844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动态视野：重塑市场认知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857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摒弃对市场的静态假设，理解其是由参与者的偏见、预期与行为共同塑造的动态演化过程。放弃寻找完美模型的执念，用演化的眼光去捕捉趋势的形成与反转。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905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159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43500" y="21844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反身性：认知与现实互塑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857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洞察“主流偏见”如何影响事实，而事实又如何反过来强化或修正偏见。这种认知与现实的双向反馈机制，是市场剧烈波动的核心驱动力，也是超额收益的来源。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905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159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21844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实验精神：在反馈中进化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857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将投资视为科学实验：大胆提出假设，用仓位管理控制风险，通过市场反馈来验证并快速修正。不追求永远正确，而是建立一套能够自我完善、持续迭代的决策系统。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D4AF37">
              <a:alpha val="12000"/>
            </a:srgbClr>
          </a:solidFill>
          <a:ln w="12700" cap="flat" cmpd="sng">
            <a:solidFill>
              <a:srgbClr val="D4AF3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1435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“金融炼金术”，从来不是寻找点石成金的万能公式，而是将索罗斯的哲学内核与你自身的性格、认知边界和人生经验深度融合。它是一套独属于你的、能够应对不确定性的思维框架——这不仅是投资的智慧，更是在复杂多变的世界中做出理性决策的底层逻辑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3048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508500"/>
            <a:ext cx="1524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cap="flat" cmpd="sng">
            <a:solidFill>
              <a:srgbClr val="BB96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953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“重要的不是预判风险，而是理解风险并从中获益。</a:t>
            </a:r>
            <a:b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保持批判性思考，是开启认知炼金术的第一步。”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1531</Words>
  <Application>Microsoft Office PowerPoint</Application>
  <PresentationFormat>宽屏</PresentationFormat>
  <Paragraphs>188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shiwenchi102296@outlook.com</cp:lastModifiedBy>
  <cp:revision>1</cp:revision>
  <dcterms:modified xsi:type="dcterms:W3CDTF">2026-08-04T06:15:27Z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{"Label":"1","ContentProducer":"001191110102MACQD9K64010000","ProduceID":"7670017968822062378","ReservedCode1":"","ContentPropagator":"","PropagateID":"","ReservedCode2":""}</vt:lpwstr>
  </property>
</Properties>
</file>